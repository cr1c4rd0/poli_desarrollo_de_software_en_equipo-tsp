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4" r:id="rId15"/>
    <p:sldId id="27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9612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C5F2D">
              <a:alpha val="40000"/>
            </a:srgbClr>
          </a:solidFill>
          <a:ln w="12700">
            <a:solidFill>
              <a:srgbClr val="2C5F2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4A7C59">
              <a:alpha val="30000"/>
            </a:srgbClr>
          </a:solidFill>
          <a:ln w="12700">
            <a:solidFill>
              <a:srgbClr val="4A7C5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2A"/>
                </a:solidFill>
              </a:rPr>
              <a:t>FT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FerreTools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Catalogo Virtual de Herramientas Manuales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4572000" cy="36576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57200" y="3127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Construccion y Organizacion del Software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Grancolombiano  |  Desarrollo de Software en Equipo  | 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0416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Ricardo (Team Leader)  |  Laura Sanchez (Planning Manager)  |  Alexander Mora (Dev Manager)  |  Carlos Diaz (Dev Manager)  |  Tania Garcia (Quality Manager)  |  Jairo Rohatan (Support Manager)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Proyecto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59" y="1143000"/>
            <a:ext cx="8379823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94360" y="1298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</a:rPr>
              <a:t>Que es FerreTools?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798140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FerreTools es un catalogo virtual de herramientas manuales desarrollado como proyecto academico en el Politecnico Grancolombiano bajo la metodologia TSP (Team Software Process).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Permite a usuarios registrarse, iniciar sesion, explorar un catalogo de 20 productos, buscar herramientas y realizar compras mediante un carrito virtual.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TSP Aplicada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Software Process — SEI (Software Engineering Institute)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98448"/>
            <a:ext cx="2633472" cy="1627632"/>
          </a:xfrm>
          <a:prstGeom prst="roundRect">
            <a:avLst>
              <a:gd name="adj" fmla="val 6742"/>
            </a:avLst>
          </a:prstGeom>
          <a:solidFill>
            <a:srgbClr val="2C5F2D">
              <a:alpha val="80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484632" y="1426464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84632" y="1426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2A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78408" y="14447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TSPI Workbook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89280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Plantilla guia del SEI. Formularios de planificacion del proyecto y roles del equipo.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1298448"/>
            <a:ext cx="2633472" cy="1627632"/>
          </a:xfrm>
          <a:prstGeom prst="roundRect">
            <a:avLst>
              <a:gd name="adj" fmla="val 6742"/>
            </a:avLst>
          </a:prstGeom>
          <a:solidFill>
            <a:srgbClr val="2C5F2D">
              <a:alpha val="80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319272" y="1426464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319272" y="1426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2A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13048" y="14447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Team &amp; Roles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9272" y="189280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6 roles asignados: Team Leader, Planning Manager, Dev Manager (x2), Quality Manager, Support Manager.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298448"/>
            <a:ext cx="2633472" cy="1627632"/>
          </a:xfrm>
          <a:prstGeom prst="roundRect">
            <a:avLst>
              <a:gd name="adj" fmla="val 6742"/>
            </a:avLst>
          </a:prstGeom>
          <a:solidFill>
            <a:srgbClr val="2C5F2D">
              <a:alpha val="80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153912" y="1426464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153912" y="1426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2A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47688" y="14447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Project Plan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53912" y="189280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Cronograma de 8 semanas con 24 tareas definidas, estimacion de horas y dependencias entre tareas.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081528"/>
            <a:ext cx="2633472" cy="1627632"/>
          </a:xfrm>
          <a:prstGeom prst="roundRect">
            <a:avLst>
              <a:gd name="adj" fmla="val 6742"/>
            </a:avLst>
          </a:prstGeom>
          <a:solidFill>
            <a:srgbClr val="2C5F2D">
              <a:alpha val="80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84632" y="3209544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84632" y="3209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2A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78408" y="32278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Seguimiento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" y="367588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Actas de reunion semanales, reporte de avances, documentacion de cambios y evidencias del proceso.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54680" y="3081528"/>
            <a:ext cx="2633472" cy="1627632"/>
          </a:xfrm>
          <a:prstGeom prst="roundRect">
            <a:avLst>
              <a:gd name="adj" fmla="val 6742"/>
            </a:avLst>
          </a:prstGeom>
          <a:solidFill>
            <a:srgbClr val="2C5F2D">
              <a:alpha val="80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3319272" y="3209544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319272" y="3209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2A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13048" y="32278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Quality Process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19272" y="367588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Revision de calidad del codigo, validacion de formularios TSP y cumplimiento del proceso definido.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89320" y="3081528"/>
            <a:ext cx="2633472" cy="1627632"/>
          </a:xfrm>
          <a:prstGeom prst="roundRect">
            <a:avLst>
              <a:gd name="adj" fmla="val 6742"/>
            </a:avLst>
          </a:prstGeom>
          <a:solidFill>
            <a:srgbClr val="2C5F2D">
              <a:alpha val="80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6153912" y="3209544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6153912" y="3209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2A"/>
                </a:solidFill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47688" y="32278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3 Entregas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53912" y="367588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Entrega 1: Planeacion. Entrega 2: Desarrollo. Entrega Final: Sistema funcional con documentacion.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Trabajo y Roles TSP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484632" y="1490472"/>
            <a:ext cx="475488" cy="47548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84632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9848" y="12344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Cristian Ricardo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9848" y="15453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Team Leader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69848" y="180136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Coordinar reuniones, supervisar avances y tomar decisiones estrategicas del proyecto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873752" y="1490472"/>
            <a:ext cx="475488" cy="4754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873752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58968" y="12344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Laura Sanchez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58968" y="15453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Planning Manager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58968" y="180136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Gestionar cronograma, tiempos, estimaciones y seguimiento de tareas del WBS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377440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84632" y="2724912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84632" y="2724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69848" y="24688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Alexander Mora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69848" y="27797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</a:rPr>
              <a:t>Development Manager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69848" y="303580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Coordinar frontend, gestionar repositorio GitHub y definir arquitectura tecnica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2377440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4873752" y="2724912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873752" y="2724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58968" y="24688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Carlos Diaz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58968" y="27797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</a:rPr>
              <a:t>Development Manager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58968" y="303580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Desarrollo de modulos funcionales, integracion del sistema y pruebas tecnicas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611880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484632" y="3959352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484632" y="3959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69848" y="3703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Tania Garcia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69848" y="40142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Quality/Process Manager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69848" y="427024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Validar formularios TSP, revisar calidad del codigo y organizar evidencias del proceso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3611880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4873752" y="3959352"/>
            <a:ext cx="475488" cy="47548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4873752" y="3959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J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58968" y="3703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Jairo Rohatan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58968" y="40142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Support Manager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58968" y="427024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Apoyar actividades generales, gestionar archivos y documentacion de soporte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097280" cy="1115568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65760" y="12527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CAPA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61848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PRESENTACION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00200" y="12344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HTML5 + CSS3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1581912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index.html  |  login.html  |  CSS/styles.css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Interfaz de usuario, formularios, grid del catalogo y sidebar del carrito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0" y="22585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7C59"/>
                </a:solidFill>
              </a:rPr>
              <a:t>v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395728"/>
            <a:ext cx="841248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365760" y="2395728"/>
            <a:ext cx="1097280" cy="1115568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65760" y="250545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CAPA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87121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LOGICA DE NEGOCIO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00200" y="248716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</a:rPr>
              <a:t>JavaScript Vanilla (ES6+)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00200" y="283464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JS/catalogo.js  |  JS/compra.js  |  JS/login.js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Manejo del DOM, gestion del carrito, autenticacion y navegacion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0" y="351129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7C59"/>
                </a:solidFill>
              </a:rPr>
              <a:t>v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648456"/>
            <a:ext cx="841248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365760" y="3648456"/>
            <a:ext cx="1097280" cy="1115568"/>
          </a:xfrm>
          <a:prstGeom prst="roundRect">
            <a:avLst>
              <a:gd name="adj" fmla="val 1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65760" y="375818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CAPA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12394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PERSISTENCIA DE DATOS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00200" y="373989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Web Storage API — LocalStorage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00200" y="4087368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ferretools_usuarios  |  ferretools_cart  |  ferretools_logged_in  |  ferretools_user_name  |  ferretools_phone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Almacenamiento del lado del cliente sin servidor ni base de datos externa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Aplicacion Web 100% del lado del cliente  |  Sin backend ni base de datos externa  |  3 capas bien definidas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Archivos del Proyecto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840480" cy="393192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FERRETOOLS-main/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389888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 index.html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636776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 login.html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883664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C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 CSS/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130552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`- styles.css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37744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C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 JS/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624328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|- catalogo.js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871216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|- compra.js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118104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`- login.js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C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 IMAGENES/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61188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`- [20 imagenes]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858768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C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`- .vscode/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4105656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`- settings.json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34840" y="960120"/>
            <a:ext cx="4343400" cy="603504"/>
          </a:xfrm>
          <a:prstGeom prst="roundRect">
            <a:avLst>
              <a:gd name="adj" fmla="val 12121"/>
            </a:avLst>
          </a:prstGeom>
          <a:solidFill>
            <a:srgbClr val="2C5F2D">
              <a:alpha val="75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617720" y="10241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7720" y="127101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Pagina principal. Navbar, grid del catalogo y sidebar del carrito. Carga catalogo.js y compra.js.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34840" y="1627632"/>
            <a:ext cx="4343400" cy="603504"/>
          </a:xfrm>
          <a:prstGeom prst="roundRect">
            <a:avLst>
              <a:gd name="adj" fmla="val 12121"/>
            </a:avLst>
          </a:prstGeom>
          <a:solidFill>
            <a:srgbClr val="2C5F2D">
              <a:alpha val="75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617720" y="1691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login.html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17720" y="193852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Autenticacion. Formularios de inicio de sesion y registro con tabs interactivos. Carga login.js.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34840" y="2295144"/>
            <a:ext cx="4343400" cy="603504"/>
          </a:xfrm>
          <a:prstGeom prst="roundRect">
            <a:avLst>
              <a:gd name="adj" fmla="val 12121"/>
            </a:avLst>
          </a:prstGeom>
          <a:solidFill>
            <a:srgbClr val="2C5F2D">
              <a:alpha val="75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617720" y="2359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17720" y="260604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Hoja de estilos unica. Reset CSS, login, navbar, catalogo, carrito y media queries responsive.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34840" y="2962656"/>
            <a:ext cx="4343400" cy="603504"/>
          </a:xfrm>
          <a:prstGeom prst="roundRect">
            <a:avLst>
              <a:gd name="adj" fmla="val 12121"/>
            </a:avLst>
          </a:prstGeom>
          <a:solidFill>
            <a:srgbClr val="2C5F2D">
              <a:alpha val="75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617720" y="302666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7C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catalogo.js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17720" y="327355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Array de 20 productos con nombre, precio e imagen. Funcion renderCatalog() genera las tarjetas.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34840" y="3630168"/>
            <a:ext cx="4343400" cy="603504"/>
          </a:xfrm>
          <a:prstGeom prst="roundRect">
            <a:avLst>
              <a:gd name="adj" fmla="val 12121"/>
            </a:avLst>
          </a:prstGeom>
          <a:solidFill>
            <a:srgbClr val="2C5F2D">
              <a:alpha val="75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4617720" y="36941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7C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compra.js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17720" y="394106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Carrito: agregar, eliminar, cantidades, total. Persistencia en LocalStorage y gestion de sesion.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4840" y="4297680"/>
            <a:ext cx="4343400" cy="603504"/>
          </a:xfrm>
          <a:prstGeom prst="roundRect">
            <a:avLst>
              <a:gd name="adj" fmla="val 12121"/>
            </a:avLst>
          </a:prstGeom>
          <a:solidFill>
            <a:srgbClr val="2C5F2D">
              <a:alpha val="75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4617720" y="43616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7C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login.js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17720" y="460857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Registro, login, validaciones, formato de telefono (+57), guard de sesion y redireccion.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Modulos Funcionales del Sistema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097280"/>
            <a:ext cx="272491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93192" y="1207008"/>
            <a:ext cx="347472" cy="256032"/>
          </a:xfrm>
          <a:prstGeom prst="roundRect">
            <a:avLst>
              <a:gd name="adj" fmla="val 21429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93192" y="120700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" y="11887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</a:rPr>
              <a:t>Registro e Inicio de Sesion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" y="15727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login.js + login.html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93192" y="179222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- Registro con nombre, telefono y ciudad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3192" y="20116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- Login con celular y contrasena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3192" y="22311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- Validaciones en tiempo real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" y="24505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- Mostrar/ocultar contrasena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3192" y="26700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- Redireccion automatica si hay sesion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36392" y="1097280"/>
            <a:ext cx="272491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3273552" y="1207008"/>
            <a:ext cx="347472" cy="256032"/>
          </a:xfrm>
          <a:prstGeom prst="roundRect">
            <a:avLst>
              <a:gd name="adj" fmla="val 21429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273552" y="120700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85032" y="11887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</a:rPr>
              <a:t>Catalogo de Productos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73552" y="15727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catalogo.js + index.html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73552" y="179222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- Array de 20 herramientas manuales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73552" y="20116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- Renderizado dinamico con DOM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73552" y="22311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- Tarjetas con imagen, nombre y precio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73552" y="24505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- Grid responsive con auto-fill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73552" y="26700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- Lazy loading de imagenes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16752" y="1097280"/>
            <a:ext cx="272491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6153912" y="1207008"/>
            <a:ext cx="347472" cy="256032"/>
          </a:xfrm>
          <a:prstGeom prst="roundRect">
            <a:avLst>
              <a:gd name="adj" fmla="val 21429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153912" y="120700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65392" y="11887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</a:rPr>
              <a:t>Carrito de Compras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53912" y="15727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compra.js + index.html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153912" y="179222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- Agregar/eliminar productos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53912" y="20116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- Modificar cantidades (+/-)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53912" y="22311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- Calculo de total en tiempo real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53912" y="24505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- Notificaciones emergentes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53912" y="26700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- Sidebar fijo en pantalla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6032" y="3035808"/>
            <a:ext cx="272491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393192" y="3145536"/>
            <a:ext cx="347472" cy="256032"/>
          </a:xfrm>
          <a:prstGeom prst="roundRect">
            <a:avLst>
              <a:gd name="adj" fmla="val 21429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393192" y="314553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4672" y="312724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</a:rPr>
              <a:t>Compra y Finalizacion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93192" y="351129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compra.js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93192" y="37307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- Confirmacion con dialogo nativo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93192" y="395020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- Muestra total antes de confirmar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93192" y="41696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- Vacia carrito al confirmar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93192" y="43891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- Limpia localStorage del carrito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93192" y="460857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- Mensaje de agradecimiento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136392" y="3035808"/>
            <a:ext cx="272491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5" name="Shape 43"/>
          <p:cNvSpPr/>
          <p:nvPr/>
        </p:nvSpPr>
        <p:spPr>
          <a:xfrm>
            <a:off x="3273552" y="3145536"/>
            <a:ext cx="347472" cy="256032"/>
          </a:xfrm>
          <a:prstGeom prst="roundRect">
            <a:avLst>
              <a:gd name="adj" fmla="val 21429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3273552" y="314553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685032" y="312724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</a:rPr>
              <a:t>Gestion de Sesion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273552" y="351129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compra.js + login.js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273552" y="37307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- Guard de sesion en index.html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273552" y="395020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- Nombre del usuario en navbar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273552" y="41696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- Boton de cerrar sesion (logout)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273552" y="43891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- Limpieza de LocalStorage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273552" y="460857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- Redireccion al cerrar sesion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016752" y="3035808"/>
            <a:ext cx="272491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5" name="Shape 53"/>
          <p:cNvSpPr/>
          <p:nvPr/>
        </p:nvSpPr>
        <p:spPr>
          <a:xfrm>
            <a:off x="6153912" y="3145536"/>
            <a:ext cx="347472" cy="256032"/>
          </a:xfrm>
          <a:prstGeom prst="roundRect">
            <a:avLst>
              <a:gd name="adj" fmla="val 21429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6" name="Text 54"/>
          <p:cNvSpPr/>
          <p:nvPr/>
        </p:nvSpPr>
        <p:spPr>
          <a:xfrm>
            <a:off x="6153912" y="314553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M6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565392" y="312724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</a:rPr>
              <a:t>Diseno Responsive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153912" y="351129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153912" y="37307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- Adaptable a moviles (&lt;=768px)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153912" y="395020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- Navbar flexible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153912" y="41696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- Carrito en overlay movil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153912" y="43891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- Grid fluido de productos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153912" y="460857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- Formularios de 2 col a 1 col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Utilizadas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029968" cy="1828800"/>
          </a:xfrm>
          <a:prstGeom prst="roundRect">
            <a:avLst>
              <a:gd name="adj" fmla="val 6000"/>
            </a:avLst>
          </a:prstGeom>
          <a:solidFill>
            <a:srgbClr val="2C5F2D">
              <a:alpha val="75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969264" y="1115568"/>
            <a:ext cx="621792" cy="457200"/>
          </a:xfrm>
          <a:prstGeom prst="roundRect">
            <a:avLst>
              <a:gd name="adj" fmla="val 16000"/>
            </a:avLst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969264" y="1115568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</a:rPr>
              <a:t>HTML5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90195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Estructura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12140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Marcado semantico. 2 paginas web con formularios, inputs de tipo tel, select y password.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23160" y="1005840"/>
            <a:ext cx="2029968" cy="1828800"/>
          </a:xfrm>
          <a:prstGeom prst="roundRect">
            <a:avLst>
              <a:gd name="adj" fmla="val 6000"/>
            </a:avLst>
          </a:prstGeom>
          <a:solidFill>
            <a:srgbClr val="2C5F2D">
              <a:alpha val="75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118104" y="1115568"/>
            <a:ext cx="621792" cy="457200"/>
          </a:xfrm>
          <a:prstGeom prst="roundRect">
            <a:avLst>
              <a:gd name="adj" fmla="val 16000"/>
            </a:avLst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118104" y="1115568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14600" y="1627632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</a:rPr>
              <a:t>CSS3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14600" y="190195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Estilos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14600" y="212140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Un archivo styles.css. Grid layout, Flexbox, media queries, hover effects y animaciones.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0" y="1005840"/>
            <a:ext cx="2029968" cy="1828800"/>
          </a:xfrm>
          <a:prstGeom prst="roundRect">
            <a:avLst>
              <a:gd name="adj" fmla="val 6000"/>
            </a:avLst>
          </a:prstGeom>
          <a:solidFill>
            <a:srgbClr val="2C5F2D">
              <a:alpha val="75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5266944" y="1115568"/>
            <a:ext cx="621792" cy="457200"/>
          </a:xfrm>
          <a:prstGeom prst="roundRect">
            <a:avLst>
              <a:gd name="adj" fmla="val 16000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5266944" y="1115568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JS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1627632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</a:rPr>
              <a:t>JavaScript ES6+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190195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Logica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212140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Vanilla JS sin frameworks. Arrow functions, array methods (map, filter, find, reduce).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20840" y="1005840"/>
            <a:ext cx="2029968" cy="1828800"/>
          </a:xfrm>
          <a:prstGeom prst="roundRect">
            <a:avLst>
              <a:gd name="adj" fmla="val 6000"/>
            </a:avLst>
          </a:prstGeom>
          <a:solidFill>
            <a:srgbClr val="2C5F2D">
              <a:alpha val="75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7415784" y="1115568"/>
            <a:ext cx="621792" cy="457200"/>
          </a:xfrm>
          <a:prstGeom prst="roundRect">
            <a:avLst>
              <a:gd name="adj" fmla="val 16000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7415784" y="1115568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12280" y="1627632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</a:rPr>
              <a:t>LocalStorage API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12280" y="190195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Persistencia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12280" y="212140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Almacenamiento del cliente para usuarios, sesion, carrito y datos del perfil activo.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2971800"/>
            <a:ext cx="2029968" cy="1828800"/>
          </a:xfrm>
          <a:prstGeom prst="roundRect">
            <a:avLst>
              <a:gd name="adj" fmla="val 6000"/>
            </a:avLst>
          </a:prstGeom>
          <a:solidFill>
            <a:srgbClr val="2C5F2D">
              <a:alpha val="75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969264" y="3081528"/>
            <a:ext cx="621792" cy="457200"/>
          </a:xfrm>
          <a:prstGeom prst="roundRect">
            <a:avLst>
              <a:gd name="adj" fmla="val 16000"/>
            </a:avLst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969264" y="3081528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5760" y="3593592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</a:rPr>
              <a:t>GitHub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386791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Control versiones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408736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Repositorio compartido del equipo. Gestion de codigo fuente y colaboracion.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423160" y="2971800"/>
            <a:ext cx="2029968" cy="1828800"/>
          </a:xfrm>
          <a:prstGeom prst="roundRect">
            <a:avLst>
              <a:gd name="adj" fmla="val 6000"/>
            </a:avLst>
          </a:prstGeom>
          <a:solidFill>
            <a:srgbClr val="2C5F2D">
              <a:alpha val="75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3118104" y="3081528"/>
            <a:ext cx="621792" cy="457200"/>
          </a:xfrm>
          <a:prstGeom prst="roundRect">
            <a:avLst>
              <a:gd name="adj" fmla="val 16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3118104" y="3081528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514600" y="3593592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</a:rPr>
              <a:t>Visual Studio Code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14600" y="386791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IDE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514600" y="408736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Editor principal. Configuracion compartida en .vscode/settings.json para el equipo.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0" y="2971800"/>
            <a:ext cx="2029968" cy="1828800"/>
          </a:xfrm>
          <a:prstGeom prst="roundRect">
            <a:avLst>
              <a:gd name="adj" fmla="val 6000"/>
            </a:avLst>
          </a:prstGeom>
          <a:solidFill>
            <a:srgbClr val="2C5F2D">
              <a:alpha val="75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Shape 38"/>
          <p:cNvSpPr/>
          <p:nvPr/>
        </p:nvSpPr>
        <p:spPr>
          <a:xfrm>
            <a:off x="5266944" y="3081528"/>
            <a:ext cx="621792" cy="457200"/>
          </a:xfrm>
          <a:prstGeom prst="roundRect">
            <a:avLst>
              <a:gd name="adj" fmla="val 16000"/>
            </a:avLst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5266944" y="3081528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TR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663440" y="3593592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</a:rPr>
              <a:t>Trello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663440" y="386791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Gestion tareas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663440" y="408736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Tablero Kanban con las 24 tareas del WBS. Estados: pendiente, en progreso, completado.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720840" y="2971800"/>
            <a:ext cx="2029968" cy="1828800"/>
          </a:xfrm>
          <a:prstGeom prst="roundRect">
            <a:avLst>
              <a:gd name="adj" fmla="val 6000"/>
            </a:avLst>
          </a:prstGeom>
          <a:solidFill>
            <a:srgbClr val="2C5F2D">
              <a:alpha val="75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Shape 44"/>
          <p:cNvSpPr/>
          <p:nvPr/>
        </p:nvSpPr>
        <p:spPr>
          <a:xfrm>
            <a:off x="7415784" y="3081528"/>
            <a:ext cx="621792" cy="457200"/>
          </a:xfrm>
          <a:prstGeom prst="roundRect">
            <a:avLst>
              <a:gd name="adj" fmla="val 16000"/>
            </a:avLst>
          </a:prstGeom>
          <a:solidFill>
            <a:srgbClr val="5865F2"/>
          </a:solidFill>
          <a:ln w="12700">
            <a:solidFill>
              <a:srgbClr val="5865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7415784" y="3081528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DC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812280" y="3593592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</a:rPr>
              <a:t>Discord / Meet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12280" y="386791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Comunicacion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812280" y="408736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Canal del equipo para reuniones, coordinacion y actas de reunion #1 y #2.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Navegacion del Usuario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05840" cy="10058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463040" y="1892808"/>
            <a:ext cx="384048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24780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login.html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75234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Acceso al sistema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47088" y="1417320"/>
            <a:ext cx="1005840" cy="10058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847088" y="16459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852928" y="1892808"/>
            <a:ext cx="384048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755648" y="24780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Registro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55648" y="275234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Nuevo usuario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36976" y="1417320"/>
            <a:ext cx="1005840" cy="10058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236976" y="16459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242816" y="1892808"/>
            <a:ext cx="384048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145536" y="24780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Sesion activa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45536" y="275234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LocalStorage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26864" y="1417320"/>
            <a:ext cx="1005840" cy="10058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626864" y="16459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632704" y="1892808"/>
            <a:ext cx="384048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535424" y="24780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index.html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35424" y="275234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Catalogo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16752" y="1417320"/>
            <a:ext cx="1005840" cy="10058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6016752" y="16459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7022592" y="1892808"/>
            <a:ext cx="384048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5925312" y="24780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Carrito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25312" y="275234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Agregar items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06640" y="1417320"/>
            <a:ext cx="1005840" cy="10058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7406640" y="16459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6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315200" y="24780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Compra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0" y="275234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Confirmar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154680"/>
            <a:ext cx="8412480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640080" y="3291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</a:rPr>
              <a:t>Guard de Sesion — Mecanismo de Proteccion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3657600"/>
            <a:ext cx="7955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Al cargar index.html, compra.js verifica si ferretools_logged_in === 'true' en LocalStorage.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- Si NO hay sesion activa: redirige automaticamente a login.html antes de mostrar el catalogo.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- Si HAY sesion: muestra el nombre del usuario en la navbar y carga el carrito guardado desde LocalStorage.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- Al hacer logout: limpia todas las claves de ferretools_* y redirige a login.html.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Catalogo de Productos — 20 Herramientas Manuales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4114800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84632" y="1115568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1. Martillo de Goma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566160" y="1115568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5F2D"/>
                </a:solidFill>
              </a:rPr>
              <a:t>$32.900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4114800" cy="338328"/>
          </a:xfrm>
          <a:prstGeom prst="roundRect">
            <a:avLst>
              <a:gd name="adj" fmla="val 10811"/>
            </a:avLst>
          </a:prstGeom>
          <a:solidFill>
            <a:srgbClr val="F0F4F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84632" y="1481328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2. Martillo de Una Pulido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0" y="1481328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5F2D"/>
                </a:solidFill>
              </a:rPr>
              <a:t>$36.900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847088"/>
            <a:ext cx="4114800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84632" y="1847088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3. Juego Destornilladores Precision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1847088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5F2D"/>
                </a:solidFill>
              </a:rPr>
              <a:t>$28.000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212848"/>
            <a:ext cx="4114800" cy="338328"/>
          </a:xfrm>
          <a:prstGeom prst="roundRect">
            <a:avLst>
              <a:gd name="adj" fmla="val 10811"/>
            </a:avLst>
          </a:prstGeom>
          <a:solidFill>
            <a:srgbClr val="F0F4F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84632" y="2212848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4. Llave Ajustable 8 Pulgadas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0" y="2212848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5F2D"/>
                </a:solidFill>
              </a:rPr>
              <a:t>$39.150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578608"/>
            <a:ext cx="4114800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84632" y="2578608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5. Alicates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2578608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5F2D"/>
                </a:solidFill>
              </a:rPr>
              <a:t>$50.900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944368"/>
            <a:ext cx="4114800" cy="338328"/>
          </a:xfrm>
          <a:prstGeom prst="roundRect">
            <a:avLst>
              <a:gd name="adj" fmla="val 10811"/>
            </a:avLst>
          </a:prstGeom>
          <a:solidFill>
            <a:srgbClr val="F0F4F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84632" y="2944368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6. Flexometro 5m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66160" y="2944368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5F2D"/>
                </a:solidFill>
              </a:rPr>
              <a:t>$32.000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310128"/>
            <a:ext cx="4114800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84632" y="3310128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7. Sierra Circular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66160" y="3310128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5F2D"/>
                </a:solidFill>
              </a:rPr>
              <a:t>$500.000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675888"/>
            <a:ext cx="4114800" cy="338328"/>
          </a:xfrm>
          <a:prstGeom prst="roundRect">
            <a:avLst>
              <a:gd name="adj" fmla="val 10811"/>
            </a:avLst>
          </a:prstGeom>
          <a:solidFill>
            <a:srgbClr val="F0F4F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84632" y="3675888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8. Nivel Laser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66160" y="3675888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5F2D"/>
                </a:solidFill>
              </a:rPr>
              <a:t>$750.000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041648"/>
            <a:ext cx="4114800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484632" y="4041648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9. Caja de Herramientas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66160" y="4041648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5F2D"/>
                </a:solidFill>
              </a:rPr>
              <a:t>$480.000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407408"/>
            <a:ext cx="4114800" cy="338328"/>
          </a:xfrm>
          <a:prstGeom prst="roundRect">
            <a:avLst>
              <a:gd name="adj" fmla="val 10811"/>
            </a:avLst>
          </a:prstGeom>
          <a:solidFill>
            <a:srgbClr val="F0F4F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484632" y="4407408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10. Pistola de Silicona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66160" y="4407408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5F2D"/>
                </a:solidFill>
              </a:rPr>
              <a:t>$52.300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1115568"/>
            <a:ext cx="4114800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4873752" y="1115568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11. Escalera Articulada Dielectrica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955280" y="1115568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5F2D"/>
                </a:solidFill>
              </a:rPr>
              <a:t>$700.000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1481328"/>
            <a:ext cx="4114800" cy="338328"/>
          </a:xfrm>
          <a:prstGeom prst="roundRect">
            <a:avLst>
              <a:gd name="adj" fmla="val 10811"/>
            </a:avLst>
          </a:prstGeom>
          <a:solidFill>
            <a:srgbClr val="F0F4F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4873752" y="1481328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12. Taladro 20V Inalambrico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955280" y="1481328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5F2D"/>
                </a:solidFill>
              </a:rPr>
              <a:t>$625.000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1847088"/>
            <a:ext cx="4114800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4873752" y="1847088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13. Pulidora 4.5" 900W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955280" y="1847088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5F2D"/>
                </a:solidFill>
              </a:rPr>
              <a:t>$170.000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09160" y="2212848"/>
            <a:ext cx="4114800" cy="338328"/>
          </a:xfrm>
          <a:prstGeom prst="roundRect">
            <a:avLst>
              <a:gd name="adj" fmla="val 10811"/>
            </a:avLst>
          </a:prstGeom>
          <a:solidFill>
            <a:srgbClr val="F0F4F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4873752" y="2212848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14. Cortadora de Baldosa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955280" y="2212848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5F2D"/>
                </a:solidFill>
              </a:rPr>
              <a:t>$130.000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09160" y="2578608"/>
            <a:ext cx="4114800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4873752" y="2578608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15. Pinza de Punta y Cortafrio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955280" y="2578608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5F2D"/>
                </a:solidFill>
              </a:rPr>
              <a:t>$38.900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09160" y="2944368"/>
            <a:ext cx="4114800" cy="338328"/>
          </a:xfrm>
          <a:prstGeom prst="roundRect">
            <a:avLst>
              <a:gd name="adj" fmla="val 10811"/>
            </a:avLst>
          </a:prstGeom>
          <a:solidFill>
            <a:srgbClr val="F0F4F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Text 48"/>
          <p:cNvSpPr/>
          <p:nvPr/>
        </p:nvSpPr>
        <p:spPr>
          <a:xfrm>
            <a:off x="4873752" y="2944368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16. Multimetro Digital UNI-T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955280" y="2944368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5F2D"/>
                </a:solidFill>
              </a:rPr>
              <a:t>$70.000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09160" y="3310128"/>
            <a:ext cx="4114800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4873752" y="3310128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17. Juego Herramientas 201 Piezas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955280" y="3310128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5F2D"/>
                </a:solidFill>
              </a:rPr>
              <a:t>$552.000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09160" y="3675888"/>
            <a:ext cx="4114800" cy="338328"/>
          </a:xfrm>
          <a:prstGeom prst="roundRect">
            <a:avLst>
              <a:gd name="adj" fmla="val 10811"/>
            </a:avLst>
          </a:prstGeom>
          <a:solidFill>
            <a:srgbClr val="F0F4F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6" name="Text 54"/>
          <p:cNvSpPr/>
          <p:nvPr/>
        </p:nvSpPr>
        <p:spPr>
          <a:xfrm>
            <a:off x="4873752" y="3675888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18. Cuchilla Cuter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955280" y="3675888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5F2D"/>
                </a:solidFill>
              </a:rPr>
              <a:t>$170.000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709160" y="4041648"/>
            <a:ext cx="4114800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9" name="Text 57"/>
          <p:cNvSpPr/>
          <p:nvPr/>
        </p:nvSpPr>
        <p:spPr>
          <a:xfrm>
            <a:off x="4873752" y="4041648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19. Guadana Husqvarna 545RX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955280" y="4041648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5F2D"/>
                </a:solidFill>
              </a:rPr>
              <a:t>$170.000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709160" y="4407408"/>
            <a:ext cx="4114800" cy="338328"/>
          </a:xfrm>
          <a:prstGeom prst="roundRect">
            <a:avLst>
              <a:gd name="adj" fmla="val 10811"/>
            </a:avLst>
          </a:prstGeom>
          <a:solidFill>
            <a:srgbClr val="F0F4F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2" name="Text 60"/>
          <p:cNvSpPr/>
          <p:nvPr/>
        </p:nvSpPr>
        <p:spPr>
          <a:xfrm>
            <a:off x="4873752" y="4407408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20. Lijadora Roto-Orbital 5"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955280" y="4407408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5F2D"/>
                </a:solidFill>
              </a:rPr>
              <a:t>$170.000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del Carrito de Compras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2C5F2D">
              <a:alpha val="80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457200" y="1124712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1124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2A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10332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agregarAlCarrito(id)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30759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Busca el producto por ID. Si existe en el carrito incrementa la cantidad; si no, lo agrega con cantidad=1. Guarda en LocalStorage y actualiza el contador del icono del carrito.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636776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2C5F2D">
              <a:alpha val="80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457200" y="1801368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57200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2A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17099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actualizarCantidad(id, nueva)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198424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Modifica la cantidad de un item. Si nueva &lt;= 0 elimina el item del carrito completamente. Persiste y re-renderiza.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313432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2C5F2D">
              <a:alpha val="80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57200" y="2478024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57200" y="2478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2A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23865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eliminarDelCarrito(id)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26609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Filtra el array carrito para excluir el producto con ese ID. Persiste los cambios en LocalStorage inmediatamente.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990088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2C5F2D">
              <a:alpha val="80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5720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2A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3063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calcularTotal()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333756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Reduce el array sumando precio x cantidad de cada item. Retorna el total formateado en pesos colombianos (toLocaleString).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666744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2C5F2D">
              <a:alpha val="80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457200" y="3831336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57200" y="3831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2A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" y="37398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finalizarCompra()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" y="401421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Muestra el total con confirm(). Si el usuario acepta, vacia el carrito, limpia LocalStorage y muestra mensaje de exito.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343400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2C5F2D">
              <a:alpha val="80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457200" y="4507992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457200" y="4507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2A"/>
                </a:solidFill>
              </a:rPr>
              <a:t>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68680" y="44165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cargarCarrito()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" y="469087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Al cargar la pagina, recupera el carrito de LocalStorage y renderiza los items guardados. Mantiene sesion persistente.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con LocalStorage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291840" cy="694944"/>
          </a:xfrm>
          <a:prstGeom prst="roundRect">
            <a:avLst>
              <a:gd name="adj" fmla="val 13158"/>
            </a:avLst>
          </a:prstGeom>
          <a:solidFill>
            <a:srgbClr val="2C5F2D">
              <a:alpha val="95000"/>
            </a:srgbClr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48640" y="12161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ferretools_usuarios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54533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Array  -&gt;  [{id, firstName, lastName, phone, password, city, clientType}]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840480" y="1280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Almacena todos los usuarios registrados. Se consulta en login y se actualiza en registro nuevo.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911096"/>
            <a:ext cx="841248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65760" y="1911096"/>
            <a:ext cx="3291840" cy="694944"/>
          </a:xfrm>
          <a:prstGeom prst="roundRect">
            <a:avLst>
              <a:gd name="adj" fmla="val 13158"/>
            </a:avLst>
          </a:prstGeom>
          <a:solidFill>
            <a:srgbClr val="2C5F2D">
              <a:alpha val="95000"/>
            </a:srgbClr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48640" y="19842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ferretools_logged_in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3134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 -&gt;  "true"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840480" y="204825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Indicador de sesion activa. El guard de sesion verifica este valor al cargar index.html.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679192"/>
            <a:ext cx="841248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365760" y="2679192"/>
            <a:ext cx="3291840" cy="694944"/>
          </a:xfrm>
          <a:prstGeom prst="roundRect">
            <a:avLst>
              <a:gd name="adj" fmla="val 13158"/>
            </a:avLst>
          </a:prstGeom>
          <a:solidFill>
            <a:srgbClr val="2C5F2D">
              <a:alpha val="95000"/>
            </a:srgbClr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48640" y="27523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ferretools_phone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30815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 -&gt;  "+573001234567"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40480" y="28163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Telefono del usuario activo formateado con prefijo +57. Identifica la sesion actual.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447288"/>
            <a:ext cx="841248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365760" y="3447288"/>
            <a:ext cx="3291840" cy="694944"/>
          </a:xfrm>
          <a:prstGeom prst="roundRect">
            <a:avLst>
              <a:gd name="adj" fmla="val 13158"/>
            </a:avLst>
          </a:prstGeom>
          <a:solidFill>
            <a:srgbClr val="2C5F2D">
              <a:alpha val="95000"/>
            </a:srgbClr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48640" y="3520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ferretools_user_name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38496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 -&gt;  "Cristian Ricardo"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0480" y="35844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Nombre completo del usuario. Se muestra en la navbar despues del inicio de sesion exitoso.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215384"/>
            <a:ext cx="841248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365760" y="4215384"/>
            <a:ext cx="3291840" cy="694944"/>
          </a:xfrm>
          <a:prstGeom prst="roundRect">
            <a:avLst>
              <a:gd name="adj" fmla="val 13158"/>
            </a:avLst>
          </a:prstGeom>
          <a:solidFill>
            <a:srgbClr val="2C5F2D">
              <a:alpha val="95000"/>
            </a:srgbClr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548640" y="42885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ferretools_cart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46177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Array  -&gt;  [{id, nombre, precio, imagen, cantidad}]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40480" y="435254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Carrito persistente. Se guarda en cada cambio y se recupera automaticamente al cargar la pagina.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Diseno Visual y CSS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</a:rPr>
              <a:t>Paleta de Colores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9903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4F46E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960120" y="13533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#4F46E5  Indigo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1627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Header login, botones primarios, tabs activos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94767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960120" y="19019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#059669  Verde Esmeralda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1762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Precios, boton 'Agregar al carrito'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49631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960120" y="2450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#F97316  Naranja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7249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Boton 'Finalizar Compra'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04495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960120" y="29992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#EF4444  Rojo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32735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Boton logout, contador carrito, eliminacion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59359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F29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960120" y="35478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#1F2937  Gris oscuro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38221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Textos principales, titulos del catalogo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14223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960120" y="40965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#6B7280  Gris medio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43708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Fondos secundarios, imagenes de productos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</a:rPr>
              <a:t>Tecnicas CSS Destacadas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1353312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2C5F2D">
              <a:alpha val="75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4846320" y="1508760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846320" y="1508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A2A"/>
                </a:solidFill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93792" y="14081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CSS Grid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93792" y="16459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grid-template-columns: repeat(auto-fill, minmax(260px, 1fr)) para layout responsive sin media queries adicionales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1956816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2C5F2D">
              <a:alpha val="75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4846320" y="211226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4846320" y="2112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A2A"/>
                </a:solidFill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93792" y="20116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Flexbox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93792" y="22494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Navbar, tarjetas, carrito y formularios usan flexbox para alineacion y distribucion flexible de elementos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0" y="256032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2C5F2D">
              <a:alpha val="75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4846320" y="2715768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4846320" y="2715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A2A"/>
                </a:solidFill>
              </a:rPr>
              <a:t>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93792" y="2615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Media Queries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93792" y="285292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Breakpoint 768px: columna unica, carrito en overlay, formularios de 2 columnas pasan a 1 columna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54880" y="3163824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2C5F2D">
              <a:alpha val="75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4846320" y="3319272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4846320" y="3319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A2A"/>
                </a:solidFill>
              </a:rPr>
              <a:t>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93792" y="32186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CSS :has()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93792" y="34564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body:has(.container) aplica estilos de la pagina login sin necesidad de clase adicional en el elemento body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54880" y="3767328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2C5F2D">
              <a:alpha val="75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Shape 42"/>
          <p:cNvSpPr/>
          <p:nvPr/>
        </p:nvSpPr>
        <p:spPr>
          <a:xfrm>
            <a:off x="4846320" y="3922776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4846320" y="3922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A2A"/>
                </a:solidFill>
              </a:rPr>
              <a:t>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93792" y="38221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Transiciones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93792" y="40599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hover con transform: scale(1.02) en botones, border-color y box-shadow en inputs con transition: all 0.2s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54880" y="4370832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2C5F2D">
              <a:alpha val="75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Shape 47"/>
          <p:cNvSpPr/>
          <p:nvPr/>
        </p:nvSpPr>
        <p:spPr>
          <a:xfrm>
            <a:off x="4846320" y="4526280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Text 48"/>
          <p:cNvSpPr/>
          <p:nvPr/>
        </p:nvSpPr>
        <p:spPr>
          <a:xfrm>
            <a:off x="4846320" y="4526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A2A"/>
                </a:solidFill>
              </a:rPr>
              <a:t>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193792" y="44256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Position Sticky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193792" y="46634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Navbar con top:0 y carrito sidebar con top:80px permanecen visibles al hacer scroll en el catalogo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Aprendidas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8795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457200" y="149047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1490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78408" y="12161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Arquitectura sin backend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8408" y="1545336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Se construyo una app completa usando solo tecnologias del cliente. LocalStorage permite persistencia sin servidor, simplificando el despliegue del proyecto.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27448" y="1143000"/>
            <a:ext cx="418795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864608" y="149047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864608" y="1490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85816" y="12161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Trabajo en equipo con TSP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85816" y="1545336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La asignacion de roles TSP mejoro la comunicacion y la distribucion de responsabilidades. Cada rol tiene un impacto claro en el resultado final.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441448"/>
            <a:ext cx="418795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5720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78408" y="2514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Importancia de la planeacion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78408" y="2843784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El WBS con 24 tareas y el cronograma Gantt permitieron estimar el esfuerzo real (~177h) y detectar dependencias entre actividades antes de programar.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27448" y="2441448"/>
            <a:ext cx="418795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864608" y="27889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864608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85816" y="2514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</a:rPr>
              <a:t>Integracion de modulos JS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85816" y="2843784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Los 3 archivos JS comparten datos a traves de window.herramientas y localStorage. La integracion requirio definir contratos de datos claros entre modulos.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739896"/>
            <a:ext cx="418795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57200" y="408736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57200" y="4087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78408" y="38130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Responsive sin frameworks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8408" y="414223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CSS Grid y Flexbox son suficientes para layouts adaptativos. No siempre se necesita Bootstrap u otros frameworks para lograr diseno responsive.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27448" y="3739896"/>
            <a:ext cx="418795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4864608" y="408736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4864608" y="4087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85816" y="38130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Documentacion continua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85816" y="414223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Las actas de reunion, formularios TSP y el cronograma actualizado son herramientas valiosas que evidencian el proceso y facilitan el seguimiento.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C5F2D">
              <a:alpha val="35000"/>
            </a:srgbClr>
          </a:solidFill>
          <a:ln w="12700">
            <a:solidFill>
              <a:srgbClr val="2C5F2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498080" y="3200400"/>
            <a:ext cx="2743200" cy="2743200"/>
          </a:xfrm>
          <a:prstGeom prst="ellipse">
            <a:avLst/>
          </a:prstGeom>
          <a:solidFill>
            <a:srgbClr val="4A7C59">
              <a:alpha val="30000"/>
            </a:srgbClr>
          </a:solidFill>
          <a:ln w="12700">
            <a:solidFill>
              <a:srgbClr val="4A7C5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2C5F2D">
              <a:alpha val="80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4864" cy="457200"/>
          </a:xfrm>
          <a:prstGeom prst="round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8001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FerreTools demuestra que es posible construir una aplicacion web funcional completa (autenticacion, catalogo, carrito y compra) usando unicamente HTML5, CSS3 y JavaScript Vanilla, sin dependencias externas ni backend.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47672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2C5F2D">
              <a:alpha val="80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54864" cy="457200"/>
          </a:xfrm>
          <a:prstGeom prst="round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94360" y="2039112"/>
            <a:ext cx="8001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La metodologia TSP proporciono una estructura solida: roles claros, planeacion documentada, seguimiento semanal y criterios de calidad definidos desde el inicio, evidenciados en 3 entregas formales.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907792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2C5F2D">
              <a:alpha val="80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54864" cy="457200"/>
          </a:xfrm>
          <a:prstGeom prst="round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94360" y="2999232"/>
            <a:ext cx="8001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El uso de LocalStorage como capa de datos resulta efectivo para prototipos academicos, permitiendo persistencia de usuarios, sesion y carrito sin infraestructura de servidor.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867912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2C5F2D">
              <a:alpha val="80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365760" y="4069080"/>
            <a:ext cx="54864" cy="457200"/>
          </a:xfrm>
          <a:prstGeom prst="round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94360" y="3959352"/>
            <a:ext cx="8001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El proyecto cumple todos los modulos requeridos: registro/login, catalogo de 20 productos, busqueda, visualizacion, compra por articulo y carrito de compras con persistencia.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A623"/>
                </a:solidFill>
              </a:rPr>
              <a:t>Politecnico Grancolombiano  |  Desarrollo de Software en Equipo  |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2213</Words>
  <Application>Microsoft Office PowerPoint</Application>
  <PresentationFormat>Presentación en pantalla (16:9)</PresentationFormat>
  <Paragraphs>356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FerreTools - Construccion y Organizacion del Software</dc:title>
  <dc:subject>PptxGenJS Presentation</dc:subject>
  <dc:creator>Equipo FerreTools - Politécnico Grancolombiano</dc:creator>
  <cp:lastModifiedBy>Cristian Ricardo</cp:lastModifiedBy>
  <cp:revision>4</cp:revision>
  <dcterms:created xsi:type="dcterms:W3CDTF">2026-06-23T14:01:19Z</dcterms:created>
  <dcterms:modified xsi:type="dcterms:W3CDTF">2026-06-23T23:34:08Z</dcterms:modified>
</cp:coreProperties>
</file>